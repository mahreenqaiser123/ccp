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7" r:id="rId8"/>
    <p:sldId id="268" r:id="rId9"/>
    <p:sldId id="263" r:id="rId10"/>
    <p:sldId id="264" r:id="rId11"/>
    <p:sldId id="265" r:id="rId12"/>
    <p:sldId id="262" r:id="rId13"/>
    <p:sldId id="266" r:id="rId14"/>
    <p:sldId id="269"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074955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11/11/2025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553516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11/11/2025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76648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11/11/2025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045404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11/11/2025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158835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11/11/2025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236522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11/11/2025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306946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11/11/2025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41192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11/11/2025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277887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11/11/2025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691131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11/11/2025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280706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70711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41A01D-46F3-9338-6B19-21C80EC54384}"/>
              </a:ext>
            </a:extLst>
          </p:cNvPr>
          <p:cNvSpPr>
            <a:spLocks noGrp="1"/>
          </p:cNvSpPr>
          <p:nvPr>
            <p:ph type="ctrTitle"/>
          </p:nvPr>
        </p:nvSpPr>
        <p:spPr>
          <a:xfrm>
            <a:off x="5583909" y="723899"/>
            <a:ext cx="5825448" cy="3871143"/>
          </a:xfrm>
        </p:spPr>
        <p:txBody>
          <a:bodyPr>
            <a:normAutofit/>
          </a:bodyPr>
          <a:lstStyle/>
          <a:p>
            <a:r>
              <a:rPr lang="en-US" sz="4800" b="1" u="sng" spc="500" dirty="0">
                <a:latin typeface="Bahnschrift Light SemiCondensed" panose="020B0502040204020203" pitchFamily="34" charset="0"/>
              </a:rPr>
              <a:t>MEMORY MATCH MADNESS</a:t>
            </a:r>
            <a:br>
              <a:rPr lang="en-US" dirty="0"/>
            </a:br>
            <a:endParaRPr lang="en-PK" dirty="0"/>
          </a:p>
        </p:txBody>
      </p:sp>
      <p:sp>
        <p:nvSpPr>
          <p:cNvPr id="3" name="Subtitle 2">
            <a:extLst>
              <a:ext uri="{FF2B5EF4-FFF2-40B4-BE49-F238E27FC236}">
                <a16:creationId xmlns:a16="http://schemas.microsoft.com/office/drawing/2014/main" id="{70EF4DD1-9E0D-5D25-7EB8-C9FCBCB9B623}"/>
              </a:ext>
            </a:extLst>
          </p:cNvPr>
          <p:cNvSpPr>
            <a:spLocks noGrp="1"/>
          </p:cNvSpPr>
          <p:nvPr>
            <p:ph type="subTitle" idx="1"/>
          </p:nvPr>
        </p:nvSpPr>
        <p:spPr>
          <a:xfrm>
            <a:off x="5616741" y="2181497"/>
            <a:ext cx="5920293" cy="3952604"/>
          </a:xfrm>
        </p:spPr>
        <p:txBody>
          <a:bodyPr>
            <a:normAutofit/>
          </a:bodyPr>
          <a:lstStyle/>
          <a:p>
            <a:endParaRPr lang="en-PK" dirty="0"/>
          </a:p>
          <a:p>
            <a:pPr algn="ctr"/>
            <a:r>
              <a:rPr lang="en-US" sz="1600" b="1" u="sng" dirty="0"/>
              <a:t>NED UNIVERSITY OF ENGINEERING AND TECHNOLOGY</a:t>
            </a:r>
          </a:p>
        </p:txBody>
      </p:sp>
      <p:pic>
        <p:nvPicPr>
          <p:cNvPr id="4" name="Picture 3" descr="Pink and blue clouds">
            <a:extLst>
              <a:ext uri="{FF2B5EF4-FFF2-40B4-BE49-F238E27FC236}">
                <a16:creationId xmlns:a16="http://schemas.microsoft.com/office/drawing/2014/main" id="{51120CC2-BC0E-5100-BD00-96CF62756164}"/>
              </a:ext>
            </a:extLst>
          </p:cNvPr>
          <p:cNvPicPr>
            <a:picLocks noChangeAspect="1"/>
          </p:cNvPicPr>
          <p:nvPr/>
        </p:nvPicPr>
        <p:blipFill>
          <a:blip r:embed="rId2"/>
          <a:srcRect l="27500" r="25923" b="2"/>
          <a:stretch>
            <a:fillRect/>
          </a:stretch>
        </p:blipFill>
        <p:spPr>
          <a:xfrm>
            <a:off x="1" y="10"/>
            <a:ext cx="4821907"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616740" y="2233749"/>
            <a:ext cx="5643443" cy="369332"/>
          </a:xfrm>
          <a:prstGeom prst="rect">
            <a:avLst/>
          </a:prstGeom>
          <a:noFill/>
        </p:spPr>
        <p:txBody>
          <a:bodyPr wrap="square" rtlCol="0">
            <a:spAutoFit/>
          </a:bodyPr>
          <a:lstStyle/>
          <a:p>
            <a:r>
              <a:rPr lang="en-US" dirty="0"/>
              <a:t>A CONSOLE BASED MEMORY GAME IN C</a:t>
            </a:r>
          </a:p>
        </p:txBody>
      </p:sp>
      <p:sp>
        <p:nvSpPr>
          <p:cNvPr id="7" name="TextBox 6"/>
          <p:cNvSpPr txBox="1"/>
          <p:nvPr/>
        </p:nvSpPr>
        <p:spPr>
          <a:xfrm>
            <a:off x="5583908" y="2811230"/>
            <a:ext cx="4582818" cy="1169551"/>
          </a:xfrm>
          <a:prstGeom prst="rect">
            <a:avLst/>
          </a:prstGeom>
          <a:noFill/>
        </p:spPr>
        <p:txBody>
          <a:bodyPr wrap="square" rtlCol="0">
            <a:spAutoFit/>
          </a:bodyPr>
          <a:lstStyle/>
          <a:p>
            <a:r>
              <a:rPr lang="en-US" sz="2000" b="1" u="sng" dirty="0"/>
              <a:t>GROUP MEMBERS:</a:t>
            </a:r>
          </a:p>
          <a:p>
            <a:endParaRPr lang="en-US" b="1" dirty="0"/>
          </a:p>
          <a:p>
            <a:r>
              <a:rPr lang="en-US" sz="1600" dirty="0"/>
              <a:t>SYEDA FAIZA ASLAM CT-25064</a:t>
            </a:r>
            <a:br>
              <a:rPr lang="en-US" sz="1600" dirty="0"/>
            </a:br>
            <a:r>
              <a:rPr lang="en-US" sz="1600" dirty="0"/>
              <a:t>MAHREEN CT-25069</a:t>
            </a:r>
          </a:p>
        </p:txBody>
      </p:sp>
      <p:pic>
        <p:nvPicPr>
          <p:cNvPr id="10" name="Picture 9"/>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765724" y="4291894"/>
            <a:ext cx="1345474" cy="1243245"/>
          </a:xfrm>
          <a:prstGeom prst="rect">
            <a:avLst/>
          </a:prstGeom>
        </p:spPr>
      </p:pic>
    </p:spTree>
    <p:extLst>
      <p:ext uri="{BB962C8B-B14F-4D97-AF65-F5344CB8AC3E}">
        <p14:creationId xmlns:p14="http://schemas.microsoft.com/office/powerpoint/2010/main" val="323434350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113FC-B917-289C-DD2C-67D15B7E7B49}"/>
              </a:ext>
            </a:extLst>
          </p:cNvPr>
          <p:cNvSpPr>
            <a:spLocks noGrp="1"/>
          </p:cNvSpPr>
          <p:nvPr>
            <p:ph type="title"/>
          </p:nvPr>
        </p:nvSpPr>
        <p:spPr/>
        <p:txBody>
          <a:bodyPr>
            <a:normAutofit/>
          </a:bodyPr>
          <a:lstStyle/>
          <a:p>
            <a:r>
              <a:rPr lang="en-US" sz="5000" b="1" u="sng" spc="500" dirty="0"/>
              <a:t>OVERVIEW</a:t>
            </a:r>
            <a:endParaRPr lang="en-PK" sz="5000" b="1" u="sng" spc="500" dirty="0"/>
          </a:p>
        </p:txBody>
      </p:sp>
      <p:sp>
        <p:nvSpPr>
          <p:cNvPr id="3" name="Content Placeholder 2">
            <a:extLst>
              <a:ext uri="{FF2B5EF4-FFF2-40B4-BE49-F238E27FC236}">
                <a16:creationId xmlns:a16="http://schemas.microsoft.com/office/drawing/2014/main" id="{71ABB490-D03C-A38B-9531-34BB0E148BD9}"/>
              </a:ext>
            </a:extLst>
          </p:cNvPr>
          <p:cNvSpPr>
            <a:spLocks noGrp="1"/>
          </p:cNvSpPr>
          <p:nvPr>
            <p:ph idx="1"/>
          </p:nvPr>
        </p:nvSpPr>
        <p:spPr>
          <a:xfrm>
            <a:off x="700635" y="2221992"/>
            <a:ext cx="10691265" cy="4214368"/>
          </a:xfrm>
        </p:spPr>
        <p:txBody>
          <a:bodyPr>
            <a:normAutofit/>
          </a:bodyPr>
          <a:lstStyle/>
          <a:p>
            <a:pPr lvl="0"/>
            <a:r>
              <a:rPr lang="en-PK" dirty="0"/>
              <a:t>Introduction </a:t>
            </a:r>
          </a:p>
          <a:p>
            <a:pPr lvl="0"/>
            <a:r>
              <a:rPr lang="en-PK" dirty="0"/>
              <a:t>Objectives</a:t>
            </a:r>
          </a:p>
          <a:p>
            <a:pPr lvl="0"/>
            <a:r>
              <a:rPr lang="en-PK" dirty="0"/>
              <a:t>System Requirements</a:t>
            </a:r>
          </a:p>
          <a:p>
            <a:pPr lvl="0"/>
            <a:r>
              <a:rPr lang="en-PK" dirty="0"/>
              <a:t>System Design </a:t>
            </a:r>
          </a:p>
          <a:p>
            <a:pPr lvl="0"/>
            <a:r>
              <a:rPr lang="en-PK" dirty="0"/>
              <a:t>Implementation Details</a:t>
            </a:r>
            <a:endParaRPr lang="en-US" dirty="0"/>
          </a:p>
          <a:p>
            <a:pPr lvl="0"/>
            <a:r>
              <a:rPr lang="en-PK" dirty="0"/>
              <a:t>Testing and Output</a:t>
            </a:r>
          </a:p>
          <a:p>
            <a:pPr lvl="0"/>
            <a:r>
              <a:rPr lang="en-PK" dirty="0"/>
              <a:t>Results and Discussion</a:t>
            </a:r>
          </a:p>
          <a:p>
            <a:pPr lvl="0"/>
            <a:r>
              <a:rPr lang="en-PK" dirty="0"/>
              <a:t>Conclusion</a:t>
            </a:r>
          </a:p>
          <a:p>
            <a:endParaRPr lang="en-PK" dirty="0"/>
          </a:p>
        </p:txBody>
      </p:sp>
    </p:spTree>
    <p:extLst>
      <p:ext uri="{BB962C8B-B14F-4D97-AF65-F5344CB8AC3E}">
        <p14:creationId xmlns:p14="http://schemas.microsoft.com/office/powerpoint/2010/main" val="12201702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B7BB-573A-698F-5543-C579B5A8F151}"/>
              </a:ext>
            </a:extLst>
          </p:cNvPr>
          <p:cNvSpPr>
            <a:spLocks noGrp="1"/>
          </p:cNvSpPr>
          <p:nvPr>
            <p:ph type="title"/>
          </p:nvPr>
        </p:nvSpPr>
        <p:spPr/>
        <p:txBody>
          <a:bodyPr/>
          <a:lstStyle/>
          <a:p>
            <a:r>
              <a:rPr lang="en-US" b="1" u="sng" dirty="0"/>
              <a:t>INTRODUCTION:</a:t>
            </a:r>
            <a:endParaRPr lang="en-PK" b="1" u="sng" dirty="0"/>
          </a:p>
        </p:txBody>
      </p:sp>
      <p:sp>
        <p:nvSpPr>
          <p:cNvPr id="3" name="Content Placeholder 2">
            <a:extLst>
              <a:ext uri="{FF2B5EF4-FFF2-40B4-BE49-F238E27FC236}">
                <a16:creationId xmlns:a16="http://schemas.microsoft.com/office/drawing/2014/main" id="{01599481-FEBA-A896-DE66-728ED73A7672}"/>
              </a:ext>
            </a:extLst>
          </p:cNvPr>
          <p:cNvSpPr>
            <a:spLocks noGrp="1"/>
          </p:cNvSpPr>
          <p:nvPr>
            <p:ph idx="1"/>
          </p:nvPr>
        </p:nvSpPr>
        <p:spPr/>
        <p:txBody>
          <a:bodyPr/>
          <a:lstStyle/>
          <a:p>
            <a:r>
              <a:rPr lang="en-PK" dirty="0"/>
              <a:t>Games have long been an effective medium for developing programming skills due to their reliance on logic, data structures, and interaction design. The </a:t>
            </a:r>
            <a:r>
              <a:rPr lang="en-PK" b="1" dirty="0"/>
              <a:t>Memory Match Madness</a:t>
            </a:r>
            <a:r>
              <a:rPr lang="en-PK" dirty="0"/>
              <a:t> project implements a simple yet engaging memory puzzle game using the </a:t>
            </a:r>
            <a:r>
              <a:rPr lang="en-PK" b="1" dirty="0"/>
              <a:t>C language</a:t>
            </a:r>
            <a:r>
              <a:rPr lang="en-PK" dirty="0"/>
              <a:t>. The game operates in a console environment and allows players to flip hidden cards to find matching pairs.</a:t>
            </a:r>
          </a:p>
          <a:p>
            <a:r>
              <a:rPr lang="en-PK" dirty="0"/>
              <a:t>The primary motivation for this project is to create an entertaining and educational tool that strengthens logical thinking while illustrating key C programming concepts. Through this project, </a:t>
            </a:r>
            <a:r>
              <a:rPr lang="en-US" dirty="0"/>
              <a:t>we</a:t>
            </a:r>
            <a:r>
              <a:rPr lang="en-PK" dirty="0"/>
              <a:t> explored how functions, loops, arrays, randomization, and conditionals can be integrated to form an interactive application.</a:t>
            </a:r>
          </a:p>
          <a:p>
            <a:pPr marL="0" indent="0">
              <a:buNone/>
            </a:pPr>
            <a:endParaRPr lang="en-PK" dirty="0"/>
          </a:p>
        </p:txBody>
      </p:sp>
    </p:spTree>
    <p:extLst>
      <p:ext uri="{BB962C8B-B14F-4D97-AF65-F5344CB8AC3E}">
        <p14:creationId xmlns:p14="http://schemas.microsoft.com/office/powerpoint/2010/main" val="31664005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18A53-C7DB-6C11-DC2A-E53C6F37A069}"/>
              </a:ext>
            </a:extLst>
          </p:cNvPr>
          <p:cNvSpPr>
            <a:spLocks noGrp="1"/>
          </p:cNvSpPr>
          <p:nvPr>
            <p:ph type="title"/>
          </p:nvPr>
        </p:nvSpPr>
        <p:spPr/>
        <p:txBody>
          <a:bodyPr/>
          <a:lstStyle/>
          <a:p>
            <a:r>
              <a:rPr lang="en-US" b="1" u="sng" dirty="0" err="1"/>
              <a:t>oBJECTIVES</a:t>
            </a:r>
            <a:r>
              <a:rPr lang="en-US" b="1" u="sng" dirty="0"/>
              <a:t>:</a:t>
            </a:r>
            <a:endParaRPr lang="en-PK" b="1" u="sng" dirty="0"/>
          </a:p>
        </p:txBody>
      </p:sp>
      <p:sp>
        <p:nvSpPr>
          <p:cNvPr id="3" name="Content Placeholder 2">
            <a:extLst>
              <a:ext uri="{FF2B5EF4-FFF2-40B4-BE49-F238E27FC236}">
                <a16:creationId xmlns:a16="http://schemas.microsoft.com/office/drawing/2014/main" id="{ECB35BB4-E05C-9E02-110F-9E22D1469A76}"/>
              </a:ext>
            </a:extLst>
          </p:cNvPr>
          <p:cNvSpPr>
            <a:spLocks noGrp="1"/>
          </p:cNvSpPr>
          <p:nvPr>
            <p:ph idx="1"/>
          </p:nvPr>
        </p:nvSpPr>
        <p:spPr/>
        <p:txBody>
          <a:bodyPr/>
          <a:lstStyle/>
          <a:p>
            <a:pPr lvl="0"/>
            <a:r>
              <a:rPr lang="en-PK" dirty="0"/>
              <a:t>To design and implement a console-based memory game using the C language.</a:t>
            </a:r>
          </a:p>
          <a:p>
            <a:pPr lvl="0"/>
            <a:r>
              <a:rPr lang="en-PK" dirty="0"/>
              <a:t>To apply programming principles such as modular design, functions, arrays, and control flow.</a:t>
            </a:r>
          </a:p>
          <a:p>
            <a:pPr lvl="0"/>
            <a:r>
              <a:rPr lang="en-PK" dirty="0"/>
              <a:t>To integrate a scoring mechanism that rewards correct matches and penalizes incorrect guesses.</a:t>
            </a:r>
          </a:p>
          <a:p>
            <a:pPr lvl="0"/>
            <a:r>
              <a:rPr lang="en-PK" dirty="0"/>
              <a:t>To introduce multiple levels of difficulty (Easy, Medium, Hard) for progressive gameplay.</a:t>
            </a:r>
          </a:p>
          <a:p>
            <a:pPr lvl="0"/>
            <a:r>
              <a:rPr lang="en-PK" dirty="0"/>
              <a:t>To implement time tracking for player performance evaluation.</a:t>
            </a:r>
          </a:p>
          <a:p>
            <a:r>
              <a:rPr lang="en-PK" dirty="0"/>
              <a:t>To provide a clear and user-friendly interface suitable for beginners in programming</a:t>
            </a:r>
          </a:p>
        </p:txBody>
      </p:sp>
    </p:spTree>
    <p:extLst>
      <p:ext uri="{BB962C8B-B14F-4D97-AF65-F5344CB8AC3E}">
        <p14:creationId xmlns:p14="http://schemas.microsoft.com/office/powerpoint/2010/main" val="3341695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BAE6B-AF01-63C2-15A1-0ED9A33AE8BC}"/>
              </a:ext>
            </a:extLst>
          </p:cNvPr>
          <p:cNvSpPr>
            <a:spLocks noGrp="1"/>
          </p:cNvSpPr>
          <p:nvPr>
            <p:ph type="title"/>
          </p:nvPr>
        </p:nvSpPr>
        <p:spPr/>
        <p:txBody>
          <a:bodyPr/>
          <a:lstStyle/>
          <a:p>
            <a:r>
              <a:rPr lang="en-US" b="1" u="sng" dirty="0"/>
              <a:t>SYSTEM REQUIREMENTS:</a:t>
            </a:r>
            <a:endParaRPr lang="en-PK" b="1" u="sng" dirty="0"/>
          </a:p>
        </p:txBody>
      </p:sp>
      <p:sp>
        <p:nvSpPr>
          <p:cNvPr id="3" name="Content Placeholder 2">
            <a:extLst>
              <a:ext uri="{FF2B5EF4-FFF2-40B4-BE49-F238E27FC236}">
                <a16:creationId xmlns:a16="http://schemas.microsoft.com/office/drawing/2014/main" id="{DB6A5D0C-7BA4-1ED3-EC0A-B67438FBB289}"/>
              </a:ext>
            </a:extLst>
          </p:cNvPr>
          <p:cNvSpPr>
            <a:spLocks noGrp="1"/>
          </p:cNvSpPr>
          <p:nvPr>
            <p:ph idx="1"/>
          </p:nvPr>
        </p:nvSpPr>
        <p:spPr>
          <a:xfrm>
            <a:off x="700635" y="2116183"/>
            <a:ext cx="10691265" cy="3845705"/>
          </a:xfrm>
        </p:spPr>
        <p:txBody>
          <a:bodyPr>
            <a:normAutofit fontScale="85000" lnSpcReduction="20000"/>
          </a:bodyPr>
          <a:lstStyle/>
          <a:p>
            <a:pPr marL="0" indent="0">
              <a:buNone/>
            </a:pPr>
            <a:r>
              <a:rPr lang="en-PK" sz="2400" b="1" u="sng" dirty="0"/>
              <a:t>Hardware Requirements</a:t>
            </a:r>
          </a:p>
          <a:p>
            <a:pPr lvl="0"/>
            <a:r>
              <a:rPr lang="en-PK" b="1" dirty="0"/>
              <a:t>Processor:</a:t>
            </a:r>
            <a:r>
              <a:rPr lang="en-PK" dirty="0"/>
              <a:t> Intel/AMD Dual Core or higher</a:t>
            </a:r>
          </a:p>
          <a:p>
            <a:pPr lvl="0"/>
            <a:r>
              <a:rPr lang="en-PK" b="1" dirty="0"/>
              <a:t>RAM:</a:t>
            </a:r>
            <a:r>
              <a:rPr lang="en-PK" dirty="0"/>
              <a:t> Minimum 2 GB</a:t>
            </a:r>
          </a:p>
          <a:p>
            <a:pPr lvl="0"/>
            <a:r>
              <a:rPr lang="en-PK" b="1" dirty="0"/>
              <a:t>Storage:</a:t>
            </a:r>
            <a:r>
              <a:rPr lang="en-PK" dirty="0"/>
              <a:t> 50 MB free disk space</a:t>
            </a:r>
          </a:p>
          <a:p>
            <a:pPr lvl="0"/>
            <a:r>
              <a:rPr lang="en-PK" b="1" dirty="0"/>
              <a:t>Display:</a:t>
            </a:r>
            <a:r>
              <a:rPr lang="en-PK" dirty="0"/>
              <a:t> Console or terminal capable of text display</a:t>
            </a:r>
          </a:p>
          <a:p>
            <a:pPr marL="0" indent="0">
              <a:buNone/>
            </a:pPr>
            <a:r>
              <a:rPr lang="en-PK" sz="2400" b="1" u="sng" dirty="0"/>
              <a:t>Software Requirements</a:t>
            </a:r>
            <a:endParaRPr lang="en-PK" sz="2400" u="sng" dirty="0"/>
          </a:p>
          <a:p>
            <a:pPr lvl="0"/>
            <a:r>
              <a:rPr lang="en-PK" b="1" dirty="0"/>
              <a:t>Operating System:</a:t>
            </a:r>
            <a:r>
              <a:rPr lang="en-PK" dirty="0"/>
              <a:t> Windows</a:t>
            </a:r>
          </a:p>
          <a:p>
            <a:pPr lvl="0"/>
            <a:r>
              <a:rPr lang="en-PK" b="1" dirty="0"/>
              <a:t>Compiler:</a:t>
            </a:r>
            <a:r>
              <a:rPr lang="en-PK" dirty="0"/>
              <a:t> GCC</a:t>
            </a:r>
          </a:p>
          <a:p>
            <a:pPr lvl="0"/>
            <a:r>
              <a:rPr lang="en-PK" b="1" dirty="0"/>
              <a:t>Language Used:</a:t>
            </a:r>
            <a:r>
              <a:rPr lang="en-PK" dirty="0"/>
              <a:t> C</a:t>
            </a:r>
          </a:p>
          <a:p>
            <a:pPr lvl="0"/>
            <a:r>
              <a:rPr lang="en-PK" b="1" dirty="0"/>
              <a:t>IDE (optional):</a:t>
            </a:r>
            <a:r>
              <a:rPr lang="en-PK" dirty="0"/>
              <a:t> Dev-C++</a:t>
            </a:r>
          </a:p>
        </p:txBody>
      </p:sp>
    </p:spTree>
    <p:extLst>
      <p:ext uri="{BB962C8B-B14F-4D97-AF65-F5344CB8AC3E}">
        <p14:creationId xmlns:p14="http://schemas.microsoft.com/office/powerpoint/2010/main" val="28755172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F384-613B-D128-D9C0-261DA6AD336D}"/>
              </a:ext>
            </a:extLst>
          </p:cNvPr>
          <p:cNvSpPr>
            <a:spLocks noGrp="1"/>
          </p:cNvSpPr>
          <p:nvPr>
            <p:ph type="title"/>
          </p:nvPr>
        </p:nvSpPr>
        <p:spPr>
          <a:xfrm>
            <a:off x="700635" y="914400"/>
            <a:ext cx="10691265" cy="679269"/>
          </a:xfrm>
        </p:spPr>
        <p:txBody>
          <a:bodyPr>
            <a:normAutofit fontScale="90000"/>
          </a:bodyPr>
          <a:lstStyle/>
          <a:p>
            <a:r>
              <a:rPr lang="en-US" b="1" u="sng" dirty="0"/>
              <a:t>FUNCTION DESCRIPTION:</a:t>
            </a:r>
            <a:endParaRPr lang="en-PK" b="1" u="sng" dirty="0"/>
          </a:p>
        </p:txBody>
      </p:sp>
      <p:sp>
        <p:nvSpPr>
          <p:cNvPr id="3" name="Content Placeholder 2">
            <a:extLst>
              <a:ext uri="{FF2B5EF4-FFF2-40B4-BE49-F238E27FC236}">
                <a16:creationId xmlns:a16="http://schemas.microsoft.com/office/drawing/2014/main" id="{96CA1B7C-6320-EAFD-9DE6-70BCFF10C971}"/>
              </a:ext>
            </a:extLst>
          </p:cNvPr>
          <p:cNvSpPr>
            <a:spLocks noGrp="1"/>
          </p:cNvSpPr>
          <p:nvPr>
            <p:ph idx="1"/>
          </p:nvPr>
        </p:nvSpPr>
        <p:spPr>
          <a:xfrm>
            <a:off x="700635" y="1593669"/>
            <a:ext cx="10691265" cy="4368219"/>
          </a:xfrm>
        </p:spPr>
        <p:txBody>
          <a:bodyPr/>
          <a:lstStyle/>
          <a:p>
            <a:r>
              <a:rPr lang="en-US" b="1" u="sng" dirty="0"/>
              <a:t>LIBRARY HEADERS AND THEIR FUNCTIONS USED</a:t>
            </a:r>
            <a:endParaRPr lang="en-US" dirty="0"/>
          </a:p>
          <a:p>
            <a:r>
              <a:rPr lang="en-US" b="1" dirty="0"/>
              <a:t>&lt;</a:t>
            </a:r>
            <a:r>
              <a:rPr lang="en-US" b="1" dirty="0" err="1"/>
              <a:t>stdio.h</a:t>
            </a:r>
            <a:r>
              <a:rPr lang="en-US" b="1" dirty="0"/>
              <a:t>&gt;</a:t>
            </a:r>
            <a:endParaRPr lang="en-US" dirty="0"/>
          </a:p>
          <a:p>
            <a:r>
              <a:rPr lang="en-US" dirty="0"/>
              <a:t>The </a:t>
            </a:r>
            <a:r>
              <a:rPr lang="en-US" dirty="0" err="1"/>
              <a:t>stdio.h</a:t>
            </a:r>
            <a:r>
              <a:rPr lang="en-US" dirty="0"/>
              <a:t> header file in C is responsible for handling input and output operations in a program. Its functions include:</a:t>
            </a:r>
          </a:p>
          <a:p>
            <a:r>
              <a:rPr lang="en-US" b="1" u="sng" dirty="0"/>
              <a:t>FUNCTIONS:</a:t>
            </a:r>
            <a:endParaRPr lang="en-US" dirty="0"/>
          </a:p>
          <a:p>
            <a:r>
              <a:rPr lang="en-US" b="1" dirty="0" err="1"/>
              <a:t>printf</a:t>
            </a:r>
            <a:r>
              <a:rPr lang="en-US" b="1" dirty="0"/>
              <a:t>()</a:t>
            </a:r>
            <a:r>
              <a:rPr lang="en-US" dirty="0"/>
              <a:t> Used to print text, messages, and the game board on the console</a:t>
            </a:r>
          </a:p>
          <a:p>
            <a:r>
              <a:rPr lang="en-US" b="1" dirty="0" err="1"/>
              <a:t>scanf</a:t>
            </a:r>
            <a:r>
              <a:rPr lang="en-US" b="1" dirty="0"/>
              <a:t>()</a:t>
            </a:r>
            <a:r>
              <a:rPr lang="en-US" dirty="0"/>
              <a:t> Takes user input such as difficulty level, row, and column choices.</a:t>
            </a:r>
          </a:p>
          <a:p>
            <a:r>
              <a:rPr lang="en-US" b="1" dirty="0" err="1"/>
              <a:t>getchar</a:t>
            </a:r>
            <a:r>
              <a:rPr lang="en-US" b="1" dirty="0"/>
              <a:t>()</a:t>
            </a:r>
            <a:r>
              <a:rPr lang="en-US" dirty="0"/>
              <a:t> Reads a single character from the input buffer (used to pause or clear input).</a:t>
            </a:r>
          </a:p>
          <a:p>
            <a:pPr marL="0" indent="0">
              <a:buNone/>
            </a:pPr>
            <a:endParaRPr lang="en-US" dirty="0"/>
          </a:p>
        </p:txBody>
      </p:sp>
    </p:spTree>
    <p:extLst>
      <p:ext uri="{BB962C8B-B14F-4D97-AF65-F5344CB8AC3E}">
        <p14:creationId xmlns:p14="http://schemas.microsoft.com/office/powerpoint/2010/main" val="902134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275" y="1554479"/>
            <a:ext cx="10580914" cy="3970318"/>
          </a:xfrm>
          <a:prstGeom prst="rect">
            <a:avLst/>
          </a:prstGeom>
          <a:noFill/>
        </p:spPr>
        <p:txBody>
          <a:bodyPr wrap="square" rtlCol="0">
            <a:spAutoFit/>
          </a:bodyPr>
          <a:lstStyle/>
          <a:p>
            <a:r>
              <a:rPr lang="en-US" b="1" dirty="0"/>
              <a:t>&lt;</a:t>
            </a:r>
            <a:r>
              <a:rPr lang="en-US" b="1" dirty="0" err="1"/>
              <a:t>stdlib.h</a:t>
            </a:r>
            <a:r>
              <a:rPr lang="en-US" b="1" dirty="0"/>
              <a:t>&gt; </a:t>
            </a:r>
            <a:endParaRPr lang="en-US" dirty="0"/>
          </a:p>
          <a:p>
            <a:r>
              <a:rPr lang="en-US" dirty="0"/>
              <a:t>The </a:t>
            </a:r>
            <a:r>
              <a:rPr lang="en-US" dirty="0" err="1"/>
              <a:t>stdlib.h</a:t>
            </a:r>
            <a:r>
              <a:rPr lang="en-US" dirty="0"/>
              <a:t> header file in C stands for standard library and it is responsible and provide functions for general purpose tasks like </a:t>
            </a:r>
          </a:p>
          <a:p>
            <a:pPr lvl="0"/>
            <a:r>
              <a:rPr lang="en-US" dirty="0"/>
              <a:t>Memory management (</a:t>
            </a:r>
            <a:r>
              <a:rPr lang="en-US" dirty="0" err="1"/>
              <a:t>malloc</a:t>
            </a:r>
            <a:r>
              <a:rPr lang="en-US" dirty="0"/>
              <a:t>(),</a:t>
            </a:r>
            <a:r>
              <a:rPr lang="en-US" dirty="0" err="1"/>
              <a:t>calloc</a:t>
            </a:r>
            <a:r>
              <a:rPr lang="en-US" dirty="0"/>
              <a:t>(),free() ).</a:t>
            </a:r>
          </a:p>
          <a:p>
            <a:pPr lvl="0"/>
            <a:r>
              <a:rPr lang="en-US" dirty="0"/>
              <a:t>Program control (exit(), abort() ).</a:t>
            </a:r>
          </a:p>
          <a:p>
            <a:pPr lvl="0"/>
            <a:r>
              <a:rPr lang="en-US" dirty="0"/>
              <a:t>Random numbers (rand(), </a:t>
            </a:r>
            <a:r>
              <a:rPr lang="en-US" dirty="0" err="1"/>
              <a:t>srand</a:t>
            </a:r>
            <a:r>
              <a:rPr lang="en-US" dirty="0"/>
              <a:t>() ).</a:t>
            </a:r>
          </a:p>
          <a:p>
            <a:r>
              <a:rPr lang="en-US" b="1" dirty="0"/>
              <a:t> </a:t>
            </a:r>
            <a:endParaRPr lang="en-US" dirty="0"/>
          </a:p>
          <a:p>
            <a:r>
              <a:rPr lang="en-US" b="1" u="sng" dirty="0"/>
              <a:t>FUNCTIONS:</a:t>
            </a:r>
            <a:endParaRPr lang="en-US" dirty="0"/>
          </a:p>
          <a:p>
            <a:r>
              <a:rPr lang="en-US" b="1" dirty="0"/>
              <a:t>system()</a:t>
            </a:r>
            <a:r>
              <a:rPr lang="en-US" dirty="0"/>
              <a:t> is used to executes a command on the operating system here, used to clear the screen (</a:t>
            </a:r>
            <a:r>
              <a:rPr lang="en-US" dirty="0" err="1"/>
              <a:t>cls</a:t>
            </a:r>
            <a:r>
              <a:rPr lang="en-US" dirty="0"/>
              <a:t> on Windows).</a:t>
            </a:r>
          </a:p>
          <a:p>
            <a:pPr marL="285750" indent="-285750">
              <a:buFont typeface="Arial" panose="020B0604020202020204" pitchFamily="34" charset="0"/>
              <a:buChar char="•"/>
            </a:pPr>
            <a:r>
              <a:rPr lang="en-US" b="1" dirty="0" err="1"/>
              <a:t>srand</a:t>
            </a:r>
            <a:r>
              <a:rPr lang="en-US" b="1" dirty="0"/>
              <a:t>()</a:t>
            </a:r>
            <a:r>
              <a:rPr lang="en-US" dirty="0"/>
              <a:t> is used to seeds the random number generator using the current time to ensure different shuffle results each run.</a:t>
            </a:r>
          </a:p>
          <a:p>
            <a:pPr marL="285750" indent="-285750">
              <a:buFont typeface="Arial" panose="020B0604020202020204" pitchFamily="34" charset="0"/>
              <a:buChar char="•"/>
            </a:pPr>
            <a:r>
              <a:rPr lang="en-US" b="1" dirty="0"/>
              <a:t>rand()</a:t>
            </a:r>
            <a:r>
              <a:rPr lang="en-US" dirty="0"/>
              <a:t> is used to generates random numbers used to shuffle the board values.</a:t>
            </a:r>
          </a:p>
          <a:p>
            <a:r>
              <a:rPr lang="en-US" dirty="0"/>
              <a:t> </a:t>
            </a:r>
          </a:p>
        </p:txBody>
      </p:sp>
    </p:spTree>
    <p:extLst>
      <p:ext uri="{BB962C8B-B14F-4D97-AF65-F5344CB8AC3E}">
        <p14:creationId xmlns:p14="http://schemas.microsoft.com/office/powerpoint/2010/main" val="369126044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274" y="1724297"/>
            <a:ext cx="10437223" cy="3970318"/>
          </a:xfrm>
          <a:prstGeom prst="rect">
            <a:avLst/>
          </a:prstGeom>
          <a:noFill/>
        </p:spPr>
        <p:txBody>
          <a:bodyPr wrap="square" rtlCol="0">
            <a:spAutoFit/>
          </a:bodyPr>
          <a:lstStyle/>
          <a:p>
            <a:r>
              <a:rPr lang="en-US" b="1" dirty="0"/>
              <a:t>&lt;</a:t>
            </a:r>
            <a:r>
              <a:rPr lang="en-US" b="1" dirty="0" err="1"/>
              <a:t>time.h</a:t>
            </a:r>
            <a:r>
              <a:rPr lang="en-US" b="1" dirty="0"/>
              <a:t>&gt;</a:t>
            </a:r>
            <a:endParaRPr lang="en-US" dirty="0"/>
          </a:p>
          <a:p>
            <a:r>
              <a:rPr lang="en-US" dirty="0"/>
              <a:t>The </a:t>
            </a:r>
            <a:r>
              <a:rPr lang="en-US" dirty="0" err="1"/>
              <a:t>time.h</a:t>
            </a:r>
            <a:r>
              <a:rPr lang="en-US" dirty="0"/>
              <a:t> header file in C is used for date and time operations. It provides the function to get the current time intervals, and format</a:t>
            </a:r>
          </a:p>
          <a:p>
            <a:endParaRPr lang="en-US" dirty="0"/>
          </a:p>
          <a:p>
            <a:r>
              <a:rPr lang="en-US" b="1" u="sng" dirty="0"/>
              <a:t>FUNCTIONS:</a:t>
            </a:r>
            <a:endParaRPr lang="en-US" dirty="0"/>
          </a:p>
          <a:p>
            <a:pPr marL="285750" indent="-285750">
              <a:buFont typeface="Arial" panose="020B0604020202020204" pitchFamily="34" charset="0"/>
              <a:buChar char="•"/>
            </a:pPr>
            <a:r>
              <a:rPr lang="en-US" b="1" dirty="0"/>
              <a:t>time()</a:t>
            </a:r>
            <a:r>
              <a:rPr lang="en-US" dirty="0"/>
              <a:t> Returns the current system time, used as a seed for randomization (</a:t>
            </a:r>
            <a:r>
              <a:rPr lang="en-US" dirty="0" err="1"/>
              <a:t>srand</a:t>
            </a:r>
            <a:r>
              <a:rPr lang="en-US" dirty="0"/>
              <a:t>(time(NULL))). </a:t>
            </a:r>
          </a:p>
          <a:p>
            <a:r>
              <a:rPr lang="en-US" dirty="0"/>
              <a:t> </a:t>
            </a:r>
          </a:p>
          <a:p>
            <a:r>
              <a:rPr lang="en-US" b="1" u="sng" dirty="0"/>
              <a:t>User-Defined Function</a:t>
            </a:r>
            <a:endParaRPr lang="en-US" dirty="0"/>
          </a:p>
          <a:p>
            <a:r>
              <a:rPr lang="en-US" b="1" dirty="0"/>
              <a:t> </a:t>
            </a:r>
            <a:endParaRPr lang="en-US" dirty="0"/>
          </a:p>
          <a:p>
            <a:r>
              <a:rPr lang="en-US" b="1" dirty="0"/>
              <a:t>void </a:t>
            </a:r>
            <a:r>
              <a:rPr lang="en-US" b="1" dirty="0" err="1"/>
              <a:t>clearScreen</a:t>
            </a:r>
            <a:r>
              <a:rPr lang="en-US" b="1" dirty="0"/>
              <a:t>()</a:t>
            </a:r>
            <a:r>
              <a:rPr lang="en-US" dirty="0"/>
              <a:t> is used in the program to clears the console screen to make the game visually clean and interactive after every turn. It uses system("</a:t>
            </a:r>
            <a:r>
              <a:rPr lang="en-US" dirty="0" err="1"/>
              <a:t>cls</a:t>
            </a:r>
            <a:r>
              <a:rPr lang="en-US" dirty="0"/>
              <a:t>") on Windows. It uses preprocessor directives (#</a:t>
            </a:r>
            <a:r>
              <a:rPr lang="en-US" dirty="0" err="1"/>
              <a:t>ifdef</a:t>
            </a:r>
            <a:r>
              <a:rPr lang="en-US" dirty="0"/>
              <a:t> _WIN32, #else and #</a:t>
            </a:r>
            <a:r>
              <a:rPr lang="en-US" dirty="0" err="1"/>
              <a:t>endif</a:t>
            </a:r>
            <a:r>
              <a:rPr lang="en-US" dirty="0"/>
              <a:t>) to determine the operating system at compile time and execute the appropriate system command (</a:t>
            </a:r>
            <a:r>
              <a:rPr lang="en-US" dirty="0" err="1"/>
              <a:t>cls</a:t>
            </a:r>
            <a:r>
              <a:rPr lang="en-US" dirty="0"/>
              <a:t> for Windows) to refresh the display for a cleaner user interface.</a:t>
            </a:r>
          </a:p>
          <a:p>
            <a:endParaRPr lang="en-US" dirty="0"/>
          </a:p>
        </p:txBody>
      </p:sp>
    </p:spTree>
    <p:extLst>
      <p:ext uri="{BB962C8B-B14F-4D97-AF65-F5344CB8AC3E}">
        <p14:creationId xmlns:p14="http://schemas.microsoft.com/office/powerpoint/2010/main" val="5221819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B6E898C-32C2-C7F1-7740-F0F3B751E1E7}"/>
              </a:ext>
            </a:extLst>
          </p:cNvPr>
          <p:cNvGraphicFramePr>
            <a:graphicFrameLocks noGrp="1"/>
          </p:cNvGraphicFramePr>
          <p:nvPr>
            <p:extLst>
              <p:ext uri="{D42A27DB-BD31-4B8C-83A1-F6EECF244321}">
                <p14:modId xmlns:p14="http://schemas.microsoft.com/office/powerpoint/2010/main" val="2741223566"/>
              </p:ext>
            </p:extLst>
          </p:nvPr>
        </p:nvGraphicFramePr>
        <p:xfrm>
          <a:off x="721360" y="993986"/>
          <a:ext cx="10621830" cy="5489280"/>
        </p:xfrm>
        <a:graphic>
          <a:graphicData uri="http://schemas.openxmlformats.org/drawingml/2006/table">
            <a:tbl>
              <a:tblPr firstRow="1" bandRow="1">
                <a:tableStyleId>{16D9F66E-5EB9-4882-86FB-DCBF35E3C3E4}</a:tableStyleId>
              </a:tblPr>
              <a:tblGrid>
                <a:gridCol w="2124366">
                  <a:extLst>
                    <a:ext uri="{9D8B030D-6E8A-4147-A177-3AD203B41FA5}">
                      <a16:colId xmlns:a16="http://schemas.microsoft.com/office/drawing/2014/main" val="2714154236"/>
                    </a:ext>
                  </a:extLst>
                </a:gridCol>
                <a:gridCol w="2124366">
                  <a:extLst>
                    <a:ext uri="{9D8B030D-6E8A-4147-A177-3AD203B41FA5}">
                      <a16:colId xmlns:a16="http://schemas.microsoft.com/office/drawing/2014/main" val="2760222265"/>
                    </a:ext>
                  </a:extLst>
                </a:gridCol>
                <a:gridCol w="2124366">
                  <a:extLst>
                    <a:ext uri="{9D8B030D-6E8A-4147-A177-3AD203B41FA5}">
                      <a16:colId xmlns:a16="http://schemas.microsoft.com/office/drawing/2014/main" val="3213493689"/>
                    </a:ext>
                  </a:extLst>
                </a:gridCol>
                <a:gridCol w="2124366">
                  <a:extLst>
                    <a:ext uri="{9D8B030D-6E8A-4147-A177-3AD203B41FA5}">
                      <a16:colId xmlns:a16="http://schemas.microsoft.com/office/drawing/2014/main" val="638662032"/>
                    </a:ext>
                  </a:extLst>
                </a:gridCol>
                <a:gridCol w="2124366">
                  <a:extLst>
                    <a:ext uri="{9D8B030D-6E8A-4147-A177-3AD203B41FA5}">
                      <a16:colId xmlns:a16="http://schemas.microsoft.com/office/drawing/2014/main" val="2369163927"/>
                    </a:ext>
                  </a:extLst>
                </a:gridCol>
              </a:tblGrid>
              <a:tr h="551520">
                <a:tc>
                  <a:txBody>
                    <a:bodyPr/>
                    <a:lstStyle/>
                    <a:p>
                      <a:pPr algn="ctr"/>
                      <a:r>
                        <a:rPr lang="en-US" b="1" dirty="0"/>
                        <a:t>Test ID</a:t>
                      </a:r>
                      <a:endParaRPr lang="en-US" dirty="0"/>
                    </a:p>
                  </a:txBody>
                  <a:tcPr anchor="ctr"/>
                </a:tc>
                <a:tc>
                  <a:txBody>
                    <a:bodyPr/>
                    <a:lstStyle/>
                    <a:p>
                      <a:pPr algn="ctr"/>
                      <a:r>
                        <a:rPr lang="en-US" b="1" dirty="0"/>
                        <a:t>Test Description</a:t>
                      </a:r>
                      <a:endParaRPr lang="en-US" dirty="0"/>
                    </a:p>
                  </a:txBody>
                  <a:tcPr anchor="ctr"/>
                </a:tc>
                <a:tc>
                  <a:txBody>
                    <a:bodyPr/>
                    <a:lstStyle/>
                    <a:p>
                      <a:pPr algn="ctr"/>
                      <a:r>
                        <a:rPr lang="en-US" b="1" dirty="0"/>
                        <a:t>Input </a:t>
                      </a:r>
                      <a:endParaRPr lang="en-US" dirty="0"/>
                    </a:p>
                  </a:txBody>
                  <a:tcPr anchor="ctr"/>
                </a:tc>
                <a:tc>
                  <a:txBody>
                    <a:bodyPr/>
                    <a:lstStyle/>
                    <a:p>
                      <a:pPr algn="ctr"/>
                      <a:r>
                        <a:rPr lang="en-US" b="1" dirty="0"/>
                        <a:t>Expected Output </a:t>
                      </a:r>
                      <a:endParaRPr lang="en-US" dirty="0"/>
                    </a:p>
                  </a:txBody>
                  <a:tcPr anchor="ctr"/>
                </a:tc>
                <a:tc>
                  <a:txBody>
                    <a:bodyPr/>
                    <a:lstStyle/>
                    <a:p>
                      <a:pPr algn="ctr"/>
                      <a:r>
                        <a:rPr lang="en-US" b="1" dirty="0"/>
                        <a:t>Pass Criteria</a:t>
                      </a:r>
                      <a:endParaRPr lang="en-US" dirty="0"/>
                    </a:p>
                  </a:txBody>
                  <a:tcPr anchor="ctr"/>
                </a:tc>
                <a:extLst>
                  <a:ext uri="{0D108BD9-81ED-4DB2-BD59-A6C34878D82A}">
                    <a16:rowId xmlns:a16="http://schemas.microsoft.com/office/drawing/2014/main" val="3783191830"/>
                  </a:ext>
                </a:extLst>
              </a:tr>
              <a:tr h="750414">
                <a:tc>
                  <a:txBody>
                    <a:bodyPr/>
                    <a:lstStyle/>
                    <a:p>
                      <a:r>
                        <a:rPr lang="en-US" b="1" dirty="0"/>
                        <a:t>TC01</a:t>
                      </a:r>
                      <a:endParaRPr lang="en-US" dirty="0"/>
                    </a:p>
                  </a:txBody>
                  <a:tcPr anchor="ctr"/>
                </a:tc>
                <a:tc>
                  <a:txBody>
                    <a:bodyPr/>
                    <a:lstStyle/>
                    <a:p>
                      <a:r>
                        <a:rPr lang="en-US"/>
                        <a:t>Launch game</a:t>
                      </a:r>
                    </a:p>
                  </a:txBody>
                  <a:tcPr anchor="ctr"/>
                </a:tc>
                <a:tc>
                  <a:txBody>
                    <a:bodyPr/>
                    <a:lstStyle/>
                    <a:p>
                      <a:r>
                        <a:rPr lang="en-US"/>
                        <a:t>Run the program memory match</a:t>
                      </a:r>
                    </a:p>
                  </a:txBody>
                  <a:tcPr anchor="ctr"/>
                </a:tc>
                <a:tc>
                  <a:txBody>
                    <a:bodyPr/>
                    <a:lstStyle/>
                    <a:p>
                      <a:r>
                        <a:rPr lang="en-US"/>
                        <a:t>Title screen and difficulty menu appear</a:t>
                      </a:r>
                    </a:p>
                  </a:txBody>
                  <a:tcPr anchor="ctr"/>
                </a:tc>
                <a:tc>
                  <a:txBody>
                    <a:bodyPr/>
                    <a:lstStyle/>
                    <a:p>
                      <a:r>
                        <a:rPr lang="en-US" dirty="0"/>
                        <a:t>Game starts without crash</a:t>
                      </a:r>
                    </a:p>
                  </a:txBody>
                  <a:tcPr anchor="ctr"/>
                </a:tc>
                <a:extLst>
                  <a:ext uri="{0D108BD9-81ED-4DB2-BD59-A6C34878D82A}">
                    <a16:rowId xmlns:a16="http://schemas.microsoft.com/office/drawing/2014/main" val="587255747"/>
                  </a:ext>
                </a:extLst>
              </a:tr>
              <a:tr h="551520">
                <a:tc>
                  <a:txBody>
                    <a:bodyPr/>
                    <a:lstStyle/>
                    <a:p>
                      <a:r>
                        <a:rPr lang="en-US" b="1"/>
                        <a:t>TC02</a:t>
                      </a:r>
                      <a:endParaRPr lang="en-US"/>
                    </a:p>
                  </a:txBody>
                  <a:tcPr anchor="ctr"/>
                </a:tc>
                <a:tc>
                  <a:txBody>
                    <a:bodyPr/>
                    <a:lstStyle/>
                    <a:p>
                      <a:r>
                        <a:rPr lang="en-US"/>
                        <a:t>Select Easy difficulty</a:t>
                      </a:r>
                    </a:p>
                  </a:txBody>
                  <a:tcPr anchor="ctr"/>
                </a:tc>
                <a:tc>
                  <a:txBody>
                    <a:bodyPr/>
                    <a:lstStyle/>
                    <a:p>
                      <a:r>
                        <a:rPr lang="en-US"/>
                        <a:t>Choose option 1</a:t>
                      </a:r>
                    </a:p>
                  </a:txBody>
                  <a:tcPr anchor="ctr"/>
                </a:tc>
                <a:tc>
                  <a:txBody>
                    <a:bodyPr/>
                    <a:lstStyle/>
                    <a:p>
                      <a:r>
                        <a:rPr lang="en-US"/>
                        <a:t>Game starts with a </a:t>
                      </a:r>
                      <a:r>
                        <a:rPr lang="en-US" b="1"/>
                        <a:t>2×2 grid</a:t>
                      </a:r>
                      <a:endParaRPr lang="en-US"/>
                    </a:p>
                  </a:txBody>
                  <a:tcPr anchor="ctr"/>
                </a:tc>
                <a:tc>
                  <a:txBody>
                    <a:bodyPr/>
                    <a:lstStyle/>
                    <a:p>
                      <a:r>
                        <a:rPr lang="en-US"/>
                        <a:t>Easy level board displayed</a:t>
                      </a:r>
                    </a:p>
                  </a:txBody>
                  <a:tcPr anchor="ctr"/>
                </a:tc>
                <a:extLst>
                  <a:ext uri="{0D108BD9-81ED-4DB2-BD59-A6C34878D82A}">
                    <a16:rowId xmlns:a16="http://schemas.microsoft.com/office/drawing/2014/main" val="457538656"/>
                  </a:ext>
                </a:extLst>
              </a:tr>
              <a:tr h="551520">
                <a:tc>
                  <a:txBody>
                    <a:bodyPr/>
                    <a:lstStyle/>
                    <a:p>
                      <a:r>
                        <a:rPr lang="en-US" b="1"/>
                        <a:t>TC03</a:t>
                      </a:r>
                      <a:endParaRPr lang="en-US"/>
                    </a:p>
                  </a:txBody>
                  <a:tcPr anchor="ctr"/>
                </a:tc>
                <a:tc>
                  <a:txBody>
                    <a:bodyPr/>
                    <a:lstStyle/>
                    <a:p>
                      <a:r>
                        <a:rPr lang="en-US"/>
                        <a:t>Select Medium difficulty</a:t>
                      </a:r>
                    </a:p>
                  </a:txBody>
                  <a:tcPr anchor="ctr"/>
                </a:tc>
                <a:tc>
                  <a:txBody>
                    <a:bodyPr/>
                    <a:lstStyle/>
                    <a:p>
                      <a:r>
                        <a:rPr lang="en-US"/>
                        <a:t>Choose option 2</a:t>
                      </a:r>
                    </a:p>
                  </a:txBody>
                  <a:tcPr anchor="ctr"/>
                </a:tc>
                <a:tc>
                  <a:txBody>
                    <a:bodyPr/>
                    <a:lstStyle/>
                    <a:p>
                      <a:r>
                        <a:rPr lang="en-US"/>
                        <a:t>Game starts with a </a:t>
                      </a:r>
                      <a:r>
                        <a:rPr lang="en-US" b="1"/>
                        <a:t>4×4 grid</a:t>
                      </a:r>
                      <a:endParaRPr lang="en-US"/>
                    </a:p>
                  </a:txBody>
                  <a:tcPr anchor="ctr"/>
                </a:tc>
                <a:tc>
                  <a:txBody>
                    <a:bodyPr/>
                    <a:lstStyle/>
                    <a:p>
                      <a:r>
                        <a:rPr lang="en-US"/>
                        <a:t>Medium board (4×4) displayed</a:t>
                      </a:r>
                    </a:p>
                  </a:txBody>
                  <a:tcPr anchor="ctr"/>
                </a:tc>
                <a:extLst>
                  <a:ext uri="{0D108BD9-81ED-4DB2-BD59-A6C34878D82A}">
                    <a16:rowId xmlns:a16="http://schemas.microsoft.com/office/drawing/2014/main" val="1537563876"/>
                  </a:ext>
                </a:extLst>
              </a:tr>
              <a:tr h="551520">
                <a:tc>
                  <a:txBody>
                    <a:bodyPr/>
                    <a:lstStyle/>
                    <a:p>
                      <a:r>
                        <a:rPr lang="en-US" b="1"/>
                        <a:t>TC04</a:t>
                      </a:r>
                      <a:endParaRPr lang="en-US"/>
                    </a:p>
                  </a:txBody>
                  <a:tcPr anchor="ctr"/>
                </a:tc>
                <a:tc>
                  <a:txBody>
                    <a:bodyPr/>
                    <a:lstStyle/>
                    <a:p>
                      <a:r>
                        <a:rPr lang="en-US"/>
                        <a:t>Select Hard difficulty</a:t>
                      </a:r>
                    </a:p>
                  </a:txBody>
                  <a:tcPr anchor="ctr"/>
                </a:tc>
                <a:tc>
                  <a:txBody>
                    <a:bodyPr/>
                    <a:lstStyle/>
                    <a:p>
                      <a:r>
                        <a:rPr lang="en-US"/>
                        <a:t>Choose option 3</a:t>
                      </a:r>
                    </a:p>
                  </a:txBody>
                  <a:tcPr anchor="ctr"/>
                </a:tc>
                <a:tc>
                  <a:txBody>
                    <a:bodyPr/>
                    <a:lstStyle/>
                    <a:p>
                      <a:r>
                        <a:rPr lang="en-US"/>
                        <a:t>Game starts with a </a:t>
                      </a:r>
                      <a:r>
                        <a:rPr lang="en-US" b="1"/>
                        <a:t>6×6 grid</a:t>
                      </a:r>
                      <a:endParaRPr lang="en-US"/>
                    </a:p>
                  </a:txBody>
                  <a:tcPr anchor="ctr"/>
                </a:tc>
                <a:tc>
                  <a:txBody>
                    <a:bodyPr/>
                    <a:lstStyle/>
                    <a:p>
                      <a:r>
                        <a:rPr lang="en-US"/>
                        <a:t>Hard board (6×6) displayed</a:t>
                      </a:r>
                    </a:p>
                  </a:txBody>
                  <a:tcPr anchor="ctr"/>
                </a:tc>
                <a:extLst>
                  <a:ext uri="{0D108BD9-81ED-4DB2-BD59-A6C34878D82A}">
                    <a16:rowId xmlns:a16="http://schemas.microsoft.com/office/drawing/2014/main" val="1631756574"/>
                  </a:ext>
                </a:extLst>
              </a:tr>
              <a:tr h="975538">
                <a:tc>
                  <a:txBody>
                    <a:bodyPr/>
                    <a:lstStyle/>
                    <a:p>
                      <a:r>
                        <a:rPr lang="en-US" b="1"/>
                        <a:t>TC05</a:t>
                      </a:r>
                      <a:endParaRPr lang="en-US"/>
                    </a:p>
                  </a:txBody>
                  <a:tcPr anchor="ctr"/>
                </a:tc>
                <a:tc>
                  <a:txBody>
                    <a:bodyPr/>
                    <a:lstStyle/>
                    <a:p>
                      <a:r>
                        <a:rPr lang="en-US"/>
                        <a:t>Invalid difficulty input</a:t>
                      </a:r>
                    </a:p>
                  </a:txBody>
                  <a:tcPr anchor="ctr"/>
                </a:tc>
                <a:tc>
                  <a:txBody>
                    <a:bodyPr/>
                    <a:lstStyle/>
                    <a:p>
                      <a:r>
                        <a:rPr lang="en-US"/>
                        <a:t>Enter a or 5</a:t>
                      </a:r>
                    </a:p>
                  </a:txBody>
                  <a:tcPr anchor="ctr"/>
                </a:tc>
                <a:tc>
                  <a:txBody>
                    <a:bodyPr/>
                    <a:lstStyle/>
                    <a:p>
                      <a:r>
                        <a:rPr lang="en-US"/>
                        <a:t>Error message shown: “Invalid input” or “Please enter 1, 2, or 3.”</a:t>
                      </a:r>
                    </a:p>
                  </a:txBody>
                  <a:tcPr anchor="ctr"/>
                </a:tc>
                <a:tc>
                  <a:txBody>
                    <a:bodyPr/>
                    <a:lstStyle/>
                    <a:p>
                      <a:r>
                        <a:rPr lang="en-US"/>
                        <a:t>Input validated, reprompt displayed</a:t>
                      </a:r>
                    </a:p>
                  </a:txBody>
                  <a:tcPr anchor="ctr"/>
                </a:tc>
                <a:extLst>
                  <a:ext uri="{0D108BD9-81ED-4DB2-BD59-A6C34878D82A}">
                    <a16:rowId xmlns:a16="http://schemas.microsoft.com/office/drawing/2014/main" val="3102616554"/>
                  </a:ext>
                </a:extLst>
              </a:tr>
              <a:tr h="750414">
                <a:tc>
                  <a:txBody>
                    <a:bodyPr/>
                    <a:lstStyle/>
                    <a:p>
                      <a:r>
                        <a:rPr lang="en-US" b="1" dirty="0"/>
                        <a:t>TC06</a:t>
                      </a:r>
                      <a:endParaRPr lang="en-US" dirty="0"/>
                    </a:p>
                  </a:txBody>
                  <a:tcPr anchor="ctr"/>
                </a:tc>
                <a:tc>
                  <a:txBody>
                    <a:bodyPr/>
                    <a:lstStyle/>
                    <a:p>
                      <a:r>
                        <a:rPr lang="en-US"/>
                        <a:t>Select unrevealed valid card</a:t>
                      </a:r>
                    </a:p>
                  </a:txBody>
                  <a:tcPr anchor="ctr"/>
                </a:tc>
                <a:tc>
                  <a:txBody>
                    <a:bodyPr/>
                    <a:lstStyle/>
                    <a:p>
                      <a:r>
                        <a:rPr lang="en-US"/>
                        <a:t>Enter coordinates (e.g., Row: 1, Col: 1)</a:t>
                      </a:r>
                    </a:p>
                  </a:txBody>
                  <a:tcPr anchor="ctr"/>
                </a:tc>
                <a:tc>
                  <a:txBody>
                    <a:bodyPr/>
                    <a:lstStyle/>
                    <a:p>
                      <a:r>
                        <a:rPr lang="en-US"/>
                        <a:t>Selected card temporarily revealed</a:t>
                      </a:r>
                    </a:p>
                  </a:txBody>
                  <a:tcPr anchor="ctr"/>
                </a:tc>
                <a:tc>
                  <a:txBody>
                    <a:bodyPr/>
                    <a:lstStyle/>
                    <a:p>
                      <a:r>
                        <a:rPr lang="en-US" dirty="0"/>
                        <a:t>Correct tile shown</a:t>
                      </a:r>
                    </a:p>
                  </a:txBody>
                  <a:tcPr anchor="ctr"/>
                </a:tc>
                <a:extLst>
                  <a:ext uri="{0D108BD9-81ED-4DB2-BD59-A6C34878D82A}">
                    <a16:rowId xmlns:a16="http://schemas.microsoft.com/office/drawing/2014/main" val="2828008353"/>
                  </a:ext>
                </a:extLst>
              </a:tr>
            </a:tbl>
          </a:graphicData>
        </a:graphic>
      </p:graphicFrame>
      <p:sp>
        <p:nvSpPr>
          <p:cNvPr id="5" name="TextBox 4"/>
          <p:cNvSpPr txBox="1"/>
          <p:nvPr/>
        </p:nvSpPr>
        <p:spPr>
          <a:xfrm>
            <a:off x="1097280" y="222069"/>
            <a:ext cx="5547224" cy="523220"/>
          </a:xfrm>
          <a:prstGeom prst="rect">
            <a:avLst/>
          </a:prstGeom>
          <a:noFill/>
        </p:spPr>
        <p:txBody>
          <a:bodyPr wrap="none" rtlCol="0">
            <a:spAutoFit/>
          </a:bodyPr>
          <a:lstStyle/>
          <a:p>
            <a:r>
              <a:rPr lang="en-US" sz="2800" b="1" u="sng" dirty="0"/>
              <a:t>IMPLEMENTATION DETAILS:</a:t>
            </a:r>
          </a:p>
        </p:txBody>
      </p:sp>
    </p:spTree>
    <p:extLst>
      <p:ext uri="{BB962C8B-B14F-4D97-AF65-F5344CB8AC3E}">
        <p14:creationId xmlns:p14="http://schemas.microsoft.com/office/powerpoint/2010/main" val="3895835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1517D77-489D-A1B1-B3BD-0CB86756C6B9}"/>
              </a:ext>
            </a:extLst>
          </p:cNvPr>
          <p:cNvGraphicFramePr>
            <a:graphicFrameLocks noGrp="1"/>
          </p:cNvGraphicFramePr>
          <p:nvPr>
            <p:extLst>
              <p:ext uri="{D42A27DB-BD31-4B8C-83A1-F6EECF244321}">
                <p14:modId xmlns:p14="http://schemas.microsoft.com/office/powerpoint/2010/main" val="2119491431"/>
              </p:ext>
            </p:extLst>
          </p:nvPr>
        </p:nvGraphicFramePr>
        <p:xfrm>
          <a:off x="731520" y="548640"/>
          <a:ext cx="10710890" cy="5484974"/>
        </p:xfrm>
        <a:graphic>
          <a:graphicData uri="http://schemas.openxmlformats.org/drawingml/2006/table">
            <a:tbl>
              <a:tblPr firstRow="1" bandRow="1">
                <a:tableStyleId>{16D9F66E-5EB9-4882-86FB-DCBF35E3C3E4}</a:tableStyleId>
              </a:tblPr>
              <a:tblGrid>
                <a:gridCol w="2156634">
                  <a:extLst>
                    <a:ext uri="{9D8B030D-6E8A-4147-A177-3AD203B41FA5}">
                      <a16:colId xmlns:a16="http://schemas.microsoft.com/office/drawing/2014/main" val="3819421463"/>
                    </a:ext>
                  </a:extLst>
                </a:gridCol>
                <a:gridCol w="2138564">
                  <a:extLst>
                    <a:ext uri="{9D8B030D-6E8A-4147-A177-3AD203B41FA5}">
                      <a16:colId xmlns:a16="http://schemas.microsoft.com/office/drawing/2014/main" val="954737452"/>
                    </a:ext>
                  </a:extLst>
                </a:gridCol>
                <a:gridCol w="2138564">
                  <a:extLst>
                    <a:ext uri="{9D8B030D-6E8A-4147-A177-3AD203B41FA5}">
                      <a16:colId xmlns:a16="http://schemas.microsoft.com/office/drawing/2014/main" val="3042285092"/>
                    </a:ext>
                  </a:extLst>
                </a:gridCol>
                <a:gridCol w="2138564">
                  <a:extLst>
                    <a:ext uri="{9D8B030D-6E8A-4147-A177-3AD203B41FA5}">
                      <a16:colId xmlns:a16="http://schemas.microsoft.com/office/drawing/2014/main" val="3338505826"/>
                    </a:ext>
                  </a:extLst>
                </a:gridCol>
                <a:gridCol w="2138564">
                  <a:extLst>
                    <a:ext uri="{9D8B030D-6E8A-4147-A177-3AD203B41FA5}">
                      <a16:colId xmlns:a16="http://schemas.microsoft.com/office/drawing/2014/main" val="2867998240"/>
                    </a:ext>
                  </a:extLst>
                </a:gridCol>
              </a:tblGrid>
              <a:tr h="953614">
                <a:tc>
                  <a:txBody>
                    <a:bodyPr/>
                    <a:lstStyle/>
                    <a:p>
                      <a:r>
                        <a:rPr lang="en-US" b="1" dirty="0"/>
                        <a:t>TC0</a:t>
                      </a:r>
                      <a:r>
                        <a:rPr lang="en-PK" b="1" dirty="0"/>
                        <a:t>7</a:t>
                      </a:r>
                    </a:p>
                  </a:txBody>
                  <a:tcPr anchor="ctr"/>
                </a:tc>
                <a:tc>
                  <a:txBody>
                    <a:bodyPr/>
                    <a:lstStyle/>
                    <a:p>
                      <a:r>
                        <a:rPr lang="en-US" b="0"/>
                        <a:t>Select same card twice</a:t>
                      </a:r>
                    </a:p>
                  </a:txBody>
                  <a:tcPr anchor="ctr"/>
                </a:tc>
                <a:tc>
                  <a:txBody>
                    <a:bodyPr/>
                    <a:lstStyle/>
                    <a:p>
                      <a:r>
                        <a:rPr lang="en-US" b="0"/>
                        <a:t>Choose same coordinates twice</a:t>
                      </a:r>
                    </a:p>
                  </a:txBody>
                  <a:tcPr anchor="ctr"/>
                </a:tc>
                <a:tc>
                  <a:txBody>
                    <a:bodyPr/>
                    <a:lstStyle/>
                    <a:p>
                      <a:r>
                        <a:rPr lang="en-US" b="0"/>
                        <a:t>Message: “You selected the same card twice. Turn cancelled.”</a:t>
                      </a:r>
                    </a:p>
                  </a:txBody>
                  <a:tcPr anchor="ctr"/>
                </a:tc>
                <a:tc>
                  <a:txBody>
                    <a:bodyPr/>
                    <a:lstStyle/>
                    <a:p>
                      <a:r>
                        <a:rPr lang="en-US" b="0" dirty="0"/>
                        <a:t>Turn cancelled properly</a:t>
                      </a:r>
                    </a:p>
                  </a:txBody>
                  <a:tcPr anchor="ctr"/>
                </a:tc>
                <a:extLst>
                  <a:ext uri="{0D108BD9-81ED-4DB2-BD59-A6C34878D82A}">
                    <a16:rowId xmlns:a16="http://schemas.microsoft.com/office/drawing/2014/main" val="848755745"/>
                  </a:ext>
                </a:extLst>
              </a:tr>
              <a:tr h="953614">
                <a:tc>
                  <a:txBody>
                    <a:bodyPr/>
                    <a:lstStyle/>
                    <a:p>
                      <a:r>
                        <a:rPr lang="en-US" b="1" dirty="0"/>
                        <a:t>TC08</a:t>
                      </a:r>
                      <a:endParaRPr lang="en-US" dirty="0"/>
                    </a:p>
                  </a:txBody>
                  <a:tcPr anchor="ctr"/>
                </a:tc>
                <a:tc>
                  <a:txBody>
                    <a:bodyPr/>
                    <a:lstStyle/>
                    <a:p>
                      <a:r>
                        <a:rPr lang="en-US"/>
                        <a:t>Select already revealed card</a:t>
                      </a:r>
                    </a:p>
                  </a:txBody>
                  <a:tcPr anchor="ctr"/>
                </a:tc>
                <a:tc>
                  <a:txBody>
                    <a:bodyPr/>
                    <a:lstStyle/>
                    <a:p>
                      <a:r>
                        <a:rPr lang="en-US"/>
                        <a:t>Pick a tile that’s already open</a:t>
                      </a:r>
                    </a:p>
                  </a:txBody>
                  <a:tcPr anchor="ctr"/>
                </a:tc>
                <a:tc>
                  <a:txBody>
                    <a:bodyPr/>
                    <a:lstStyle/>
                    <a:p>
                      <a:r>
                        <a:rPr lang="en-US"/>
                        <a:t>Message: “That card is already revealed.”</a:t>
                      </a:r>
                    </a:p>
                  </a:txBody>
                  <a:tcPr anchor="ctr"/>
                </a:tc>
                <a:tc>
                  <a:txBody>
                    <a:bodyPr/>
                    <a:lstStyle/>
                    <a:p>
                      <a:r>
                        <a:rPr lang="en-US" dirty="0"/>
                        <a:t>Turn cancelled, no crash</a:t>
                      </a:r>
                    </a:p>
                  </a:txBody>
                  <a:tcPr anchor="ctr"/>
                </a:tc>
                <a:extLst>
                  <a:ext uri="{0D108BD9-81ED-4DB2-BD59-A6C34878D82A}">
                    <a16:rowId xmlns:a16="http://schemas.microsoft.com/office/drawing/2014/main" val="2947819701"/>
                  </a:ext>
                </a:extLst>
              </a:tr>
              <a:tr h="667530">
                <a:tc>
                  <a:txBody>
                    <a:bodyPr/>
                    <a:lstStyle/>
                    <a:p>
                      <a:r>
                        <a:rPr lang="en-US" b="1" dirty="0"/>
                        <a:t>TC09</a:t>
                      </a:r>
                      <a:endParaRPr lang="en-US" dirty="0"/>
                    </a:p>
                  </a:txBody>
                  <a:tcPr anchor="ctr"/>
                </a:tc>
                <a:tc>
                  <a:txBody>
                    <a:bodyPr/>
                    <a:lstStyle/>
                    <a:p>
                      <a:r>
                        <a:rPr lang="en-US"/>
                        <a:t>Matching pair</a:t>
                      </a:r>
                    </a:p>
                  </a:txBody>
                  <a:tcPr anchor="ctr"/>
                </a:tc>
                <a:tc>
                  <a:txBody>
                    <a:bodyPr/>
                    <a:lstStyle/>
                    <a:p>
                      <a:r>
                        <a:rPr lang="en-US"/>
                        <a:t>Select two tiles with the same number</a:t>
                      </a:r>
                    </a:p>
                  </a:txBody>
                  <a:tcPr anchor="ctr"/>
                </a:tc>
                <a:tc>
                  <a:txBody>
                    <a:bodyPr/>
                    <a:lstStyle/>
                    <a:p>
                      <a:r>
                        <a:rPr lang="en-US"/>
                        <a:t>Message: “It’s a MATCH! +10 points.”</a:t>
                      </a:r>
                    </a:p>
                  </a:txBody>
                  <a:tcPr anchor="ctr"/>
                </a:tc>
                <a:tc>
                  <a:txBody>
                    <a:bodyPr/>
                    <a:lstStyle/>
                    <a:p>
                      <a:r>
                        <a:rPr lang="en-US" dirty="0"/>
                        <a:t>Both remain revealed, +10 score</a:t>
                      </a:r>
                    </a:p>
                  </a:txBody>
                  <a:tcPr anchor="ctr"/>
                </a:tc>
                <a:extLst>
                  <a:ext uri="{0D108BD9-81ED-4DB2-BD59-A6C34878D82A}">
                    <a16:rowId xmlns:a16="http://schemas.microsoft.com/office/drawing/2014/main" val="4237530020"/>
                  </a:ext>
                </a:extLst>
              </a:tr>
              <a:tr h="667530">
                <a:tc>
                  <a:txBody>
                    <a:bodyPr/>
                    <a:lstStyle/>
                    <a:p>
                      <a:r>
                        <a:rPr lang="en-US" b="1" dirty="0"/>
                        <a:t>TC10</a:t>
                      </a:r>
                      <a:endParaRPr lang="en-US" dirty="0"/>
                    </a:p>
                  </a:txBody>
                  <a:tcPr anchor="ctr"/>
                </a:tc>
                <a:tc>
                  <a:txBody>
                    <a:bodyPr/>
                    <a:lstStyle/>
                    <a:p>
                      <a:r>
                        <a:rPr lang="en-US"/>
                        <a:t>Non-matching pair</a:t>
                      </a:r>
                    </a:p>
                  </a:txBody>
                  <a:tcPr anchor="ctr"/>
                </a:tc>
                <a:tc>
                  <a:txBody>
                    <a:bodyPr/>
                    <a:lstStyle/>
                    <a:p>
                      <a:r>
                        <a:rPr lang="en-US"/>
                        <a:t>Select two different tiles</a:t>
                      </a:r>
                    </a:p>
                  </a:txBody>
                  <a:tcPr anchor="ctr"/>
                </a:tc>
                <a:tc>
                  <a:txBody>
                    <a:bodyPr/>
                    <a:lstStyle/>
                    <a:p>
                      <a:r>
                        <a:rPr lang="en-US"/>
                        <a:t>Message: “Not a match. -2 points.”</a:t>
                      </a:r>
                    </a:p>
                  </a:txBody>
                  <a:tcPr anchor="ctr"/>
                </a:tc>
                <a:tc>
                  <a:txBody>
                    <a:bodyPr/>
                    <a:lstStyle/>
                    <a:p>
                      <a:r>
                        <a:rPr lang="en-US" dirty="0"/>
                        <a:t>Both hidden again, -2 score</a:t>
                      </a:r>
                    </a:p>
                  </a:txBody>
                  <a:tcPr anchor="ctr"/>
                </a:tc>
                <a:extLst>
                  <a:ext uri="{0D108BD9-81ED-4DB2-BD59-A6C34878D82A}">
                    <a16:rowId xmlns:a16="http://schemas.microsoft.com/office/drawing/2014/main" val="3022131094"/>
                  </a:ext>
                </a:extLst>
              </a:tr>
              <a:tr h="807096">
                <a:tc>
                  <a:txBody>
                    <a:bodyPr/>
                    <a:lstStyle/>
                    <a:p>
                      <a:r>
                        <a:rPr lang="en-US" b="1" dirty="0"/>
                        <a:t>TC11</a:t>
                      </a:r>
                      <a:endParaRPr lang="en-US" dirty="0"/>
                    </a:p>
                  </a:txBody>
                  <a:tcPr anchor="ctr"/>
                </a:tc>
                <a:tc>
                  <a:txBody>
                    <a:bodyPr/>
                    <a:lstStyle/>
                    <a:p>
                      <a:r>
                        <a:rPr lang="en-US"/>
                        <a:t>Negative score check</a:t>
                      </a:r>
                    </a:p>
                  </a:txBody>
                  <a:tcPr anchor="ctr"/>
                </a:tc>
                <a:tc>
                  <a:txBody>
                    <a:bodyPr/>
                    <a:lstStyle/>
                    <a:p>
                      <a:r>
                        <a:rPr lang="en-US"/>
                        <a:t>Miss multiple pairs intentionally</a:t>
                      </a:r>
                    </a:p>
                  </a:txBody>
                  <a:tcPr anchor="ctr"/>
                </a:tc>
                <a:tc>
                  <a:txBody>
                    <a:bodyPr/>
                    <a:lstStyle/>
                    <a:p>
                      <a:r>
                        <a:rPr lang="en-US"/>
                        <a:t>Score decreases but not below 0</a:t>
                      </a:r>
                    </a:p>
                  </a:txBody>
                  <a:tcPr anchor="ctr"/>
                </a:tc>
                <a:tc>
                  <a:txBody>
                    <a:bodyPr/>
                    <a:lstStyle/>
                    <a:p>
                      <a:r>
                        <a:rPr lang="en-US" dirty="0"/>
                        <a:t>Score never &lt; 0</a:t>
                      </a:r>
                    </a:p>
                  </a:txBody>
                  <a:tcPr anchor="ctr"/>
                </a:tc>
                <a:extLst>
                  <a:ext uri="{0D108BD9-81ED-4DB2-BD59-A6C34878D82A}">
                    <a16:rowId xmlns:a16="http://schemas.microsoft.com/office/drawing/2014/main" val="2374606597"/>
                  </a:ext>
                </a:extLst>
              </a:tr>
              <a:tr h="953614">
                <a:tc>
                  <a:txBody>
                    <a:bodyPr/>
                    <a:lstStyle/>
                    <a:p>
                      <a:r>
                        <a:rPr lang="en-US" b="1" dirty="0"/>
                        <a:t>TC12</a:t>
                      </a:r>
                      <a:endParaRPr lang="en-US" dirty="0"/>
                    </a:p>
                  </a:txBody>
                  <a:tcPr anchor="ctr"/>
                </a:tc>
                <a:tc>
                  <a:txBody>
                    <a:bodyPr/>
                    <a:lstStyle/>
                    <a:p>
                      <a:r>
                        <a:rPr lang="en-US"/>
                        <a:t>Level completion</a:t>
                      </a:r>
                    </a:p>
                  </a:txBody>
                  <a:tcPr anchor="ctr"/>
                </a:tc>
                <a:tc>
                  <a:txBody>
                    <a:bodyPr/>
                    <a:lstStyle/>
                    <a:p>
                      <a:r>
                        <a:rPr lang="en-US"/>
                        <a:t>Match all pairs</a:t>
                      </a:r>
                    </a:p>
                  </a:txBody>
                  <a:tcPr anchor="ctr"/>
                </a:tc>
                <a:tc>
                  <a:txBody>
                    <a:bodyPr/>
                    <a:lstStyle/>
                    <a:p>
                      <a:r>
                        <a:rPr lang="en-US"/>
                        <a:t>“LEVEL COMPLETE” summary displayed</a:t>
                      </a:r>
                    </a:p>
                  </a:txBody>
                  <a:tcPr anchor="ctr"/>
                </a:tc>
                <a:tc>
                  <a:txBody>
                    <a:bodyPr/>
                    <a:lstStyle/>
                    <a:p>
                      <a:r>
                        <a:rPr lang="en-US" dirty="0"/>
                        <a:t>Moves to next level</a:t>
                      </a:r>
                    </a:p>
                  </a:txBody>
                  <a:tcPr anchor="ctr"/>
                </a:tc>
                <a:extLst>
                  <a:ext uri="{0D108BD9-81ED-4DB2-BD59-A6C34878D82A}">
                    <a16:rowId xmlns:a16="http://schemas.microsoft.com/office/drawing/2014/main" val="3333075399"/>
                  </a:ext>
                </a:extLst>
              </a:tr>
            </a:tbl>
          </a:graphicData>
        </a:graphic>
      </p:graphicFrame>
    </p:spTree>
    <p:extLst>
      <p:ext uri="{BB962C8B-B14F-4D97-AF65-F5344CB8AC3E}">
        <p14:creationId xmlns:p14="http://schemas.microsoft.com/office/powerpoint/2010/main" val="23852702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C3276FF-804F-1F59-7D09-DEB782175008}"/>
              </a:ext>
            </a:extLst>
          </p:cNvPr>
          <p:cNvGraphicFramePr>
            <a:graphicFrameLocks noGrp="1"/>
          </p:cNvGraphicFramePr>
          <p:nvPr>
            <p:extLst>
              <p:ext uri="{D42A27DB-BD31-4B8C-83A1-F6EECF244321}">
                <p14:modId xmlns:p14="http://schemas.microsoft.com/office/powerpoint/2010/main" val="3511157100"/>
              </p:ext>
            </p:extLst>
          </p:nvPr>
        </p:nvGraphicFramePr>
        <p:xfrm>
          <a:off x="822960" y="719666"/>
          <a:ext cx="10530840" cy="4980095"/>
        </p:xfrm>
        <a:graphic>
          <a:graphicData uri="http://schemas.openxmlformats.org/drawingml/2006/table">
            <a:tbl>
              <a:tblPr firstRow="1" bandRow="1">
                <a:tableStyleId>{16D9F66E-5EB9-4882-86FB-DCBF35E3C3E4}</a:tableStyleId>
              </a:tblPr>
              <a:tblGrid>
                <a:gridCol w="2106168">
                  <a:extLst>
                    <a:ext uri="{9D8B030D-6E8A-4147-A177-3AD203B41FA5}">
                      <a16:colId xmlns:a16="http://schemas.microsoft.com/office/drawing/2014/main" val="406457645"/>
                    </a:ext>
                  </a:extLst>
                </a:gridCol>
                <a:gridCol w="2106168">
                  <a:extLst>
                    <a:ext uri="{9D8B030D-6E8A-4147-A177-3AD203B41FA5}">
                      <a16:colId xmlns:a16="http://schemas.microsoft.com/office/drawing/2014/main" val="43119750"/>
                    </a:ext>
                  </a:extLst>
                </a:gridCol>
                <a:gridCol w="2106168">
                  <a:extLst>
                    <a:ext uri="{9D8B030D-6E8A-4147-A177-3AD203B41FA5}">
                      <a16:colId xmlns:a16="http://schemas.microsoft.com/office/drawing/2014/main" val="1352934884"/>
                    </a:ext>
                  </a:extLst>
                </a:gridCol>
                <a:gridCol w="2106168">
                  <a:extLst>
                    <a:ext uri="{9D8B030D-6E8A-4147-A177-3AD203B41FA5}">
                      <a16:colId xmlns:a16="http://schemas.microsoft.com/office/drawing/2014/main" val="2914841639"/>
                    </a:ext>
                  </a:extLst>
                </a:gridCol>
                <a:gridCol w="2106168">
                  <a:extLst>
                    <a:ext uri="{9D8B030D-6E8A-4147-A177-3AD203B41FA5}">
                      <a16:colId xmlns:a16="http://schemas.microsoft.com/office/drawing/2014/main" val="3551622668"/>
                    </a:ext>
                  </a:extLst>
                </a:gridCol>
              </a:tblGrid>
              <a:tr h="1168139">
                <a:tc>
                  <a:txBody>
                    <a:bodyPr/>
                    <a:lstStyle/>
                    <a:p>
                      <a:r>
                        <a:rPr lang="en-US" b="1" dirty="0"/>
                        <a:t>TC13</a:t>
                      </a:r>
                      <a:endParaRPr lang="en-US" dirty="0"/>
                    </a:p>
                  </a:txBody>
                  <a:tcPr anchor="ctr"/>
                </a:tc>
                <a:tc>
                  <a:txBody>
                    <a:bodyPr/>
                    <a:lstStyle/>
                    <a:p>
                      <a:r>
                        <a:rPr lang="en-US" b="0"/>
                        <a:t>Multi-level progression</a:t>
                      </a:r>
                    </a:p>
                  </a:txBody>
                  <a:tcPr anchor="ctr"/>
                </a:tc>
                <a:tc>
                  <a:txBody>
                    <a:bodyPr/>
                    <a:lstStyle/>
                    <a:p>
                      <a:r>
                        <a:rPr lang="en-US" b="0"/>
                        <a:t>Start from Easy and complete up to Hard</a:t>
                      </a:r>
                    </a:p>
                  </a:txBody>
                  <a:tcPr anchor="ctr"/>
                </a:tc>
                <a:tc>
                  <a:txBody>
                    <a:bodyPr/>
                    <a:lstStyle/>
                    <a:p>
                      <a:r>
                        <a:rPr lang="en-US" b="0"/>
                        <a:t>Three level summaries and final screen appear</a:t>
                      </a:r>
                    </a:p>
                  </a:txBody>
                  <a:tcPr anchor="ctr"/>
                </a:tc>
                <a:tc>
                  <a:txBody>
                    <a:bodyPr/>
                    <a:lstStyle/>
                    <a:p>
                      <a:r>
                        <a:rPr lang="en-US" b="0" dirty="0"/>
                        <a:t>Levels progress in correct order</a:t>
                      </a:r>
                    </a:p>
                  </a:txBody>
                  <a:tcPr anchor="ctr"/>
                </a:tc>
                <a:extLst>
                  <a:ext uri="{0D108BD9-81ED-4DB2-BD59-A6C34878D82A}">
                    <a16:rowId xmlns:a16="http://schemas.microsoft.com/office/drawing/2014/main" val="1107321911"/>
                  </a:ext>
                </a:extLst>
              </a:tr>
              <a:tr h="1125236">
                <a:tc>
                  <a:txBody>
                    <a:bodyPr/>
                    <a:lstStyle/>
                    <a:p>
                      <a:r>
                        <a:rPr lang="en-US" b="1"/>
                        <a:t>TC14</a:t>
                      </a:r>
                      <a:endParaRPr lang="en-US"/>
                    </a:p>
                  </a:txBody>
                  <a:tcPr anchor="ctr"/>
                </a:tc>
                <a:tc>
                  <a:txBody>
                    <a:bodyPr/>
                    <a:lstStyle/>
                    <a:p>
                      <a:r>
                        <a:rPr lang="en-US"/>
                        <a:t>Timing check</a:t>
                      </a:r>
                    </a:p>
                  </a:txBody>
                  <a:tcPr anchor="ctr"/>
                </a:tc>
                <a:tc>
                  <a:txBody>
                    <a:bodyPr/>
                    <a:lstStyle/>
                    <a:p>
                      <a:r>
                        <a:rPr lang="en-US"/>
                        <a:t>Let timer run for several seconds</a:t>
                      </a:r>
                    </a:p>
                  </a:txBody>
                  <a:tcPr anchor="ctr"/>
                </a:tc>
                <a:tc>
                  <a:txBody>
                    <a:bodyPr/>
                    <a:lstStyle/>
                    <a:p>
                      <a:r>
                        <a:rPr lang="en-US"/>
                        <a:t>Time counter increases accurately</a:t>
                      </a:r>
                    </a:p>
                  </a:txBody>
                  <a:tcPr anchor="ctr"/>
                </a:tc>
                <a:tc>
                  <a:txBody>
                    <a:bodyPr/>
                    <a:lstStyle/>
                    <a:p>
                      <a:r>
                        <a:rPr lang="en-US"/>
                        <a:t>Timer updates correctly</a:t>
                      </a:r>
                    </a:p>
                  </a:txBody>
                  <a:tcPr anchor="ctr"/>
                </a:tc>
                <a:extLst>
                  <a:ext uri="{0D108BD9-81ED-4DB2-BD59-A6C34878D82A}">
                    <a16:rowId xmlns:a16="http://schemas.microsoft.com/office/drawing/2014/main" val="1596164988"/>
                  </a:ext>
                </a:extLst>
              </a:tr>
              <a:tr h="1168139">
                <a:tc>
                  <a:txBody>
                    <a:bodyPr/>
                    <a:lstStyle/>
                    <a:p>
                      <a:r>
                        <a:rPr lang="en-US" b="1"/>
                        <a:t>TC15</a:t>
                      </a:r>
                      <a:endParaRPr lang="en-US"/>
                    </a:p>
                  </a:txBody>
                  <a:tcPr anchor="ctr"/>
                </a:tc>
                <a:tc>
                  <a:txBody>
                    <a:bodyPr/>
                    <a:lstStyle/>
                    <a:p>
                      <a:r>
                        <a:rPr lang="en-US"/>
                        <a:t>Clear screen check</a:t>
                      </a:r>
                    </a:p>
                  </a:txBody>
                  <a:tcPr anchor="ctr"/>
                </a:tc>
                <a:tc>
                  <a:txBody>
                    <a:bodyPr/>
                    <a:lstStyle/>
                    <a:p>
                      <a:r>
                        <a:rPr lang="en-US"/>
                        <a:t>Observe console after each turn</a:t>
                      </a:r>
                    </a:p>
                  </a:txBody>
                  <a:tcPr anchor="ctr"/>
                </a:tc>
                <a:tc>
                  <a:txBody>
                    <a:bodyPr/>
                    <a:lstStyle/>
                    <a:p>
                      <a:r>
                        <a:rPr lang="en-US"/>
                        <a:t>Screen clears automatically between moves</a:t>
                      </a:r>
                    </a:p>
                  </a:txBody>
                  <a:tcPr anchor="ctr"/>
                </a:tc>
                <a:tc>
                  <a:txBody>
                    <a:bodyPr/>
                    <a:lstStyle/>
                    <a:p>
                      <a:r>
                        <a:rPr lang="en-US"/>
                        <a:t>Clean transition between turns</a:t>
                      </a:r>
                    </a:p>
                  </a:txBody>
                  <a:tcPr anchor="ctr"/>
                </a:tc>
                <a:extLst>
                  <a:ext uri="{0D108BD9-81ED-4DB2-BD59-A6C34878D82A}">
                    <a16:rowId xmlns:a16="http://schemas.microsoft.com/office/drawing/2014/main" val="462518871"/>
                  </a:ext>
                </a:extLst>
              </a:tr>
              <a:tr h="1518581">
                <a:tc>
                  <a:txBody>
                    <a:bodyPr/>
                    <a:lstStyle/>
                    <a:p>
                      <a:r>
                        <a:rPr lang="en-US" b="1"/>
                        <a:t>TC16</a:t>
                      </a:r>
                      <a:endParaRPr lang="en-US"/>
                    </a:p>
                  </a:txBody>
                  <a:tcPr anchor="ctr"/>
                </a:tc>
                <a:tc>
                  <a:txBody>
                    <a:bodyPr/>
                    <a:lstStyle/>
                    <a:p>
                      <a:r>
                        <a:rPr lang="en-US"/>
                        <a:t>Exit after game end</a:t>
                      </a:r>
                    </a:p>
                  </a:txBody>
                  <a:tcPr anchor="ctr"/>
                </a:tc>
                <a:tc>
                  <a:txBody>
                    <a:bodyPr/>
                    <a:lstStyle/>
                    <a:p>
                      <a:r>
                        <a:rPr lang="en-US"/>
                        <a:t>Finish Hard level</a:t>
                      </a:r>
                    </a:p>
                  </a:txBody>
                  <a:tcPr anchor="ctr"/>
                </a:tc>
                <a:tc>
                  <a:txBody>
                    <a:bodyPr/>
                    <a:lstStyle/>
                    <a:p>
                      <a:r>
                        <a:rPr lang="en-US"/>
                        <a:t>“CONGRATULATIONS” and “FINAL SCORE” displayed</a:t>
                      </a:r>
                    </a:p>
                  </a:txBody>
                  <a:tcPr anchor="ctr"/>
                </a:tc>
                <a:tc>
                  <a:txBody>
                    <a:bodyPr/>
                    <a:lstStyle/>
                    <a:p>
                      <a:r>
                        <a:rPr lang="en-US" dirty="0"/>
                        <a:t>Program exits gracefully</a:t>
                      </a:r>
                    </a:p>
                  </a:txBody>
                  <a:tcPr anchor="ctr"/>
                </a:tc>
                <a:extLst>
                  <a:ext uri="{0D108BD9-81ED-4DB2-BD59-A6C34878D82A}">
                    <a16:rowId xmlns:a16="http://schemas.microsoft.com/office/drawing/2014/main" val="2865985630"/>
                  </a:ext>
                </a:extLst>
              </a:tr>
            </a:tbl>
          </a:graphicData>
        </a:graphic>
      </p:graphicFrame>
    </p:spTree>
    <p:extLst>
      <p:ext uri="{BB962C8B-B14F-4D97-AF65-F5344CB8AC3E}">
        <p14:creationId xmlns:p14="http://schemas.microsoft.com/office/powerpoint/2010/main" val="33270393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2CBC-1354-9102-4925-DF3269C328A1}"/>
              </a:ext>
            </a:extLst>
          </p:cNvPr>
          <p:cNvSpPr>
            <a:spLocks noGrp="1"/>
          </p:cNvSpPr>
          <p:nvPr>
            <p:ph type="title"/>
          </p:nvPr>
        </p:nvSpPr>
        <p:spPr/>
        <p:txBody>
          <a:bodyPr/>
          <a:lstStyle/>
          <a:p>
            <a:r>
              <a:rPr lang="en-US" b="1" u="sng" dirty="0" err="1"/>
              <a:t>OUTPUt</a:t>
            </a:r>
            <a:r>
              <a:rPr lang="en-US" b="1" u="sng" dirty="0"/>
              <a:t> and result:</a:t>
            </a:r>
            <a:endParaRPr lang="en-PK" b="1" u="sng" dirty="0"/>
          </a:p>
        </p:txBody>
      </p:sp>
      <p:sp>
        <p:nvSpPr>
          <p:cNvPr id="3" name="Content Placeholder 2">
            <a:extLst>
              <a:ext uri="{FF2B5EF4-FFF2-40B4-BE49-F238E27FC236}">
                <a16:creationId xmlns:a16="http://schemas.microsoft.com/office/drawing/2014/main" id="{AAAF539D-91F8-EADF-6F24-3BC2B46DAA86}"/>
              </a:ext>
            </a:extLst>
          </p:cNvPr>
          <p:cNvSpPr>
            <a:spLocks noGrp="1"/>
          </p:cNvSpPr>
          <p:nvPr>
            <p:ph idx="1"/>
          </p:nvPr>
        </p:nvSpPr>
        <p:spPr/>
        <p:txBody>
          <a:bodyPr/>
          <a:lstStyle/>
          <a:p>
            <a:pPr marL="0" indent="0">
              <a:buNone/>
            </a:pPr>
            <a:r>
              <a:rPr lang="en-US" dirty="0"/>
              <a:t>The program was tested manually by playing through it on three levels of difficulty: Easy, Medium, and Hard. Different test cases were carried out to ensure smooth gameplay and that the software responds well to any user input. During the testing, both normal and edge cases were test, like entering invalid inputs, selecting the same card in succession, and choosing already revealed tiles. The game responded correctly, showing appropriate error messages and not crashing. Also, the scoring system increased by 10 with every correct match and decreased by 2 upon a wrong pair but never below zero. The screen, after every turn, was properly cleared for better visibility. Level progression from Easy to Hard went successfully, and it showed the right messages upon completing each level. Overall, all test cases were passed, and everything worked fine: stable performance, accurate scoring, and smooth user interaction.</a:t>
            </a:r>
            <a:endParaRPr lang="en-PK" dirty="0"/>
          </a:p>
        </p:txBody>
      </p:sp>
    </p:spTree>
    <p:extLst>
      <p:ext uri="{BB962C8B-B14F-4D97-AF65-F5344CB8AC3E}">
        <p14:creationId xmlns:p14="http://schemas.microsoft.com/office/powerpoint/2010/main" val="33741367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76760-F824-45E0-0ED5-0010B3E5F778}"/>
              </a:ext>
            </a:extLst>
          </p:cNvPr>
          <p:cNvSpPr>
            <a:spLocks noGrp="1"/>
          </p:cNvSpPr>
          <p:nvPr>
            <p:ph type="title"/>
          </p:nvPr>
        </p:nvSpPr>
        <p:spPr/>
        <p:txBody>
          <a:bodyPr/>
          <a:lstStyle/>
          <a:p>
            <a:r>
              <a:rPr lang="en-US" b="1" u="sng" dirty="0"/>
              <a:t>Conclusion:</a:t>
            </a:r>
            <a:endParaRPr lang="en-PK" b="1" u="sng" dirty="0"/>
          </a:p>
        </p:txBody>
      </p:sp>
      <p:sp>
        <p:nvSpPr>
          <p:cNvPr id="3" name="Content Placeholder 2">
            <a:extLst>
              <a:ext uri="{FF2B5EF4-FFF2-40B4-BE49-F238E27FC236}">
                <a16:creationId xmlns:a16="http://schemas.microsoft.com/office/drawing/2014/main" id="{F4FBB6CF-5921-3D15-0F81-8505D0E72CD1}"/>
              </a:ext>
            </a:extLst>
          </p:cNvPr>
          <p:cNvSpPr>
            <a:spLocks noGrp="1"/>
          </p:cNvSpPr>
          <p:nvPr>
            <p:ph idx="1"/>
          </p:nvPr>
        </p:nvSpPr>
        <p:spPr/>
        <p:txBody>
          <a:bodyPr>
            <a:normAutofit/>
          </a:bodyPr>
          <a:lstStyle/>
          <a:p>
            <a:pPr marL="0" indent="0">
              <a:buNone/>
            </a:pPr>
            <a:r>
              <a:rPr lang="en-US" sz="2400" i="1" dirty="0"/>
              <a:t>Memory Match Madness</a:t>
            </a:r>
            <a:r>
              <a:rPr lang="en-US" sz="2400" dirty="0"/>
              <a:t> demonstrates the use of C for interactive console applications, integrating arrays, loops, conditionals, and functions. The project taught management of two-dimensional arrays, randomization, function-based program structure, and user-friendly interface design. It provides a solid foundation for further development, including GUI-based enhancements, and serves as an effective learning exercise for beginner C programmer</a:t>
            </a:r>
            <a:endParaRPr lang="en-PK" sz="2400" dirty="0"/>
          </a:p>
        </p:txBody>
      </p:sp>
    </p:spTree>
    <p:extLst>
      <p:ext uri="{BB962C8B-B14F-4D97-AF65-F5344CB8AC3E}">
        <p14:creationId xmlns:p14="http://schemas.microsoft.com/office/powerpoint/2010/main" val="36821540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0407" y="2638697"/>
            <a:ext cx="5454276" cy="1307592"/>
          </a:xfrm>
        </p:spPr>
        <p:txBody>
          <a:bodyPr>
            <a:normAutofit/>
          </a:bodyPr>
          <a:lstStyle/>
          <a:p>
            <a:r>
              <a:rPr lang="en-US" sz="5400" b="1" u="sng" spc="200" dirty="0"/>
              <a:t>Thank you</a:t>
            </a:r>
          </a:p>
        </p:txBody>
      </p:sp>
    </p:spTree>
    <p:extLst>
      <p:ext uri="{BB962C8B-B14F-4D97-AF65-F5344CB8AC3E}">
        <p14:creationId xmlns:p14="http://schemas.microsoft.com/office/powerpoint/2010/main" val="25252077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Click="0">
        <p15:prstTrans prst="pageCurlDouble"/>
      </p:transition>
    </mc:Choice>
    <mc:Fallback>
      <p:transition spd="slow" advClick="0">
        <p:fade/>
      </p:transition>
    </mc:Fallback>
  </mc:AlternateContent>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737</TotalTime>
  <Words>1247</Words>
  <Application>Microsoft Office PowerPoint</Application>
  <PresentationFormat>Widescreen</PresentationFormat>
  <Paragraphs>156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Bahnschrift Light SemiCondensed</vt:lpstr>
      <vt:lpstr>Calisto MT</vt:lpstr>
      <vt:lpstr>Univers Condensed</vt:lpstr>
      <vt:lpstr>ChronicleVTI</vt:lpstr>
      <vt:lpstr>MEMORY MATCH MADNESS </vt:lpstr>
      <vt:lpstr>OVERVIEW</vt:lpstr>
      <vt:lpstr>INTRODUCTION:</vt:lpstr>
      <vt:lpstr>oBJECTIVES:</vt:lpstr>
      <vt:lpstr>SYSTEM REQUIREMENTS:</vt:lpstr>
      <vt:lpstr>FUNCTION DESCRIPTION:</vt:lpstr>
      <vt:lpstr>PowerPoint Presentation</vt:lpstr>
      <vt:lpstr>PowerPoint Presentation</vt:lpstr>
      <vt:lpstr>PowerPoint Presentation</vt:lpstr>
      <vt:lpstr>PowerPoint Presentation</vt:lpstr>
      <vt:lpstr>PowerPoint Presentation</vt:lpstr>
      <vt:lpstr>OUTPUt and result: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MATCH MADNESS</dc:title>
  <dc:creator>Quality Assurance Users3</dc:creator>
  <cp:lastModifiedBy>Quality Assurance Users3</cp:lastModifiedBy>
  <cp:revision>13</cp:revision>
  <dcterms:created xsi:type="dcterms:W3CDTF">2025-11-07T08:49:51Z</dcterms:created>
  <dcterms:modified xsi:type="dcterms:W3CDTF">2025-11-11T08:16:29Z</dcterms:modified>
</cp:coreProperties>
</file>